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5565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 of Electronics and Communication Engineering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74320" y="1554480"/>
            <a:ext cx="6583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AI-Based Synthesis of Single-Stage BJT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Amplifiers with Gain Validation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7432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00400"/>
          <a:ext cx="5943600" cy="128016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Sl.no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Roll.no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Namit Patil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01FE24BEC405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Karaveerappa malligawad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01FE24BEC404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Geerish Hosamani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01FE24BEC403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858000" y="34747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under:
</a:t>
            </a: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Ramesh Tabib</a:t>
            </a:r>
            <a:endParaRPr lang="en-US" sz="1200" dirty="0"/>
          </a:p>
        </p:txBody>
      </p:sp>
      <p:pic>
        <p:nvPicPr>
          <p:cNvPr id="10" name="Picture 9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6F0F7A5C-4AF7-B78C-785B-41BDE9B63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976" y="14937"/>
            <a:ext cx="2391024" cy="6708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74320" y="593656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150231"/>
            <a:ext cx="457903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amplifier design requires manual calculations.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amplifier configurations follow different design rules.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methods are time-consuming.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can automate the design process.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can generate component values directly from user requirements.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pic>
        <p:nvPicPr>
          <p:cNvPr id="7" name="Picture 6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92464FCE-DBEC-FF71-21DE-65D854667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271" y="23262"/>
            <a:ext cx="1885071" cy="5289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74320" y="607724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123444"/>
            <a:ext cx="507140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amplifier design: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expert knowledge.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Involves repetitive calculations.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significant design time.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configurations require different equations.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846320" y="822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846320" y="11430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intelligent design system.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component generation.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design effort.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pic>
        <p:nvPicPr>
          <p:cNvPr id="10" name="Picture 9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5EBF24EE-D7E7-66E8-C679-927A82D0C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271" y="23262"/>
            <a:ext cx="1885071" cy="5289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74320" y="614758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118872"/>
            <a:ext cx="569038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Automate BJT amplifier design.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Generate component values automatically.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Support CE, CC and CG configurations.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Validate amplifier gain.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Generate circuit schematic automatically.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Visualize waveform output.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pic>
        <p:nvPicPr>
          <p:cNvPr id="7" name="Picture 6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709A4AAA-231C-ABCC-8424-29BB44262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271" y="23262"/>
            <a:ext cx="1885071" cy="5289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74320" y="583829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113978"/>
            <a:ext cx="546529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Approaches: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calculations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simulation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and error approach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consuming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846320" y="822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846320" y="11430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design process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expertise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pic>
        <p:nvPicPr>
          <p:cNvPr id="10" name="Picture 9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99402FAD-4404-CE8F-1A18-702FF12C3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271" y="23262"/>
            <a:ext cx="1885071" cy="5289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93192" y="552167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82296"/>
            <a:ext cx="5151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0" y="777240"/>
            <a:ext cx="2743200" cy="411480"/>
          </a:xfrm>
          <a:prstGeom prst="roundRect">
            <a:avLst>
              <a:gd name="adj" fmla="val 11111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0" y="777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Gain, Vcc, Configuration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0" y="1188720"/>
            <a:ext cx="0" cy="320040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62272" y="135331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</a:rPr>
              <a:t>▼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0" y="1508760"/>
            <a:ext cx="2743200" cy="411480"/>
          </a:xfrm>
          <a:prstGeom prst="roundRect">
            <a:avLst>
              <a:gd name="adj" fmla="val 11111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1508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GAN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0" y="1920240"/>
            <a:ext cx="0" cy="320040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62272" y="20848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</a:rPr>
              <a:t>▼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00400" y="2240280"/>
            <a:ext cx="2743200" cy="411480"/>
          </a:xfrm>
          <a:prstGeom prst="roundRect">
            <a:avLst>
              <a:gd name="adj" fmla="val 11111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0" y="2240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RC, RE, RG, Vout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0" y="2651760"/>
            <a:ext cx="0" cy="320040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62272" y="281635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</a:rPr>
              <a:t>▼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200400" y="2971800"/>
            <a:ext cx="2743200" cy="411480"/>
          </a:xfrm>
          <a:prstGeom prst="roundRect">
            <a:avLst>
              <a:gd name="adj" fmla="val 11111"/>
            </a:avLst>
          </a:prstGeom>
          <a:solidFill>
            <a:srgbClr val="B41E2D"/>
          </a:solidFill>
          <a:ln w="12700">
            <a:solidFill>
              <a:srgbClr val="B41E2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0" y="2971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Validation + Waveform + Circuit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pic>
        <p:nvPicPr>
          <p:cNvPr id="20" name="Picture 19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7A7BAE65-3DFE-2494-4F2B-FFED0FB4B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271" y="23262"/>
            <a:ext cx="1885071" cy="5289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74320" y="594839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73152"/>
            <a:ext cx="627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64008" cy="32004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868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834640" y="8686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380744"/>
            <a:ext cx="64008" cy="32004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3807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834640" y="138074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development environment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1892808"/>
            <a:ext cx="64008" cy="32004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8928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834640" y="189280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/ GAN implementation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" y="2404872"/>
            <a:ext cx="64008" cy="32004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24048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834640" y="240487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and processing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2916936"/>
            <a:ext cx="64008" cy="32004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9169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834640" y="291693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visualization and plotting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65760" y="3429000"/>
            <a:ext cx="64008" cy="32004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834640" y="3429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and metrics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65760" y="3941064"/>
            <a:ext cx="64008" cy="32004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39410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Schemdraw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834640" y="394106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circuit diagram generation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pic>
        <p:nvPicPr>
          <p:cNvPr id="27" name="Picture 26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D275D551-BB99-33E9-AFEB-25E21FEE4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271" y="23262"/>
            <a:ext cx="1885071" cy="5289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74320" y="554199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Configurations: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0" y="1234440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DEEAF1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 –  Common Emitter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0" y="1828800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 –  Common Collector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0" y="2423160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DEEAF1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0" y="2423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  –  Common Gate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pic>
        <p:nvPicPr>
          <p:cNvPr id="15" name="Picture 14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E3461FE2-3067-D706-637D-7CAA0A6E6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271" y="23262"/>
            <a:ext cx="1885071" cy="5289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74320" y="576014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73152"/>
            <a:ext cx="613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7772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194560" y="969264"/>
            <a:ext cx="347472" cy="0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23160" y="87782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04040"/>
                </a:solidFill>
              </a:rPr>
              <a:t>▶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542032" y="77724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42032" y="7772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70832" y="969264"/>
            <a:ext cx="347472" cy="0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99432" y="87782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04040"/>
                </a:solidFill>
              </a:rPr>
              <a:t>▶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18304" y="77724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18304" y="7772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GAN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47104" y="969264"/>
            <a:ext cx="347472" cy="0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75704" y="87782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04040"/>
                </a:solidFill>
              </a:rPr>
              <a:t>▶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894576" y="77724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B41E2D"/>
          </a:solidFill>
          <a:ln w="12700">
            <a:solidFill>
              <a:srgbClr val="B41E2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94576" y="7772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808976" y="1161288"/>
            <a:ext cx="0" cy="594360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280160" y="1600200"/>
            <a:ext cx="6528816" cy="0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280160" y="1600200"/>
            <a:ext cx="0" cy="155448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1755648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17556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Generation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194560" y="1947672"/>
            <a:ext cx="347472" cy="0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423160" y="185623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04040"/>
                </a:solidFill>
              </a:rPr>
              <a:t>▶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2542032" y="1755648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542032" y="17556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Validation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370832" y="1947672"/>
            <a:ext cx="347472" cy="0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99432" y="185623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04040"/>
                </a:solidFill>
              </a:rPr>
              <a:t>▶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718304" y="1755648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18304" y="17556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Generation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547104" y="1947672"/>
            <a:ext cx="347472" cy="0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75704" y="185623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04040"/>
                </a:solidFill>
              </a:rPr>
              <a:t>▶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894576" y="1755648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B41E2D"/>
          </a:solidFill>
          <a:ln w="12700">
            <a:solidFill>
              <a:srgbClr val="B41E2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94576" y="17556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Generation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pic>
        <p:nvPicPr>
          <p:cNvPr id="37" name="Picture 36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D41661F9-A7F8-312C-BCCC-46D85A5E1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271" y="23262"/>
            <a:ext cx="1885071" cy="5289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74320" y="564359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118872"/>
            <a:ext cx="605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amplifier design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design process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component generation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verification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schematic creation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pic>
        <p:nvPicPr>
          <p:cNvPr id="7" name="Picture 6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C6811803-C3B8-B24E-3874-1A1B6F615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271" y="23262"/>
            <a:ext cx="1885071" cy="5289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74320" y="574519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73152"/>
            <a:ext cx="602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amplifiers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MOSFET amplifiers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 analog circuits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pic>
        <p:nvPicPr>
          <p:cNvPr id="7" name="Picture 6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1444F61D-8FAC-31F0-9B98-ECADB6B3C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271" y="23262"/>
            <a:ext cx="1885071" cy="5289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4535209A-CE3B-6B99-B803-957716A3E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271" y="23262"/>
            <a:ext cx="1885071" cy="528905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A20E6A8D-E38E-C00E-CD6B-901B315A2FB1}"/>
              </a:ext>
            </a:extLst>
          </p:cNvPr>
          <p:cNvSpPr/>
          <p:nvPr/>
        </p:nvSpPr>
        <p:spPr>
          <a:xfrm>
            <a:off x="274320" y="574519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51F37AC5-554D-3F1E-D2D6-29EEBBF27F90}"/>
              </a:ext>
            </a:extLst>
          </p:cNvPr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BFCD7-31FC-174A-142E-AF672A8A6D36}"/>
              </a:ext>
            </a:extLst>
          </p:cNvPr>
          <p:cNvSpPr txBox="1"/>
          <p:nvPr/>
        </p:nvSpPr>
        <p:spPr>
          <a:xfrm>
            <a:off x="2103120" y="2187029"/>
            <a:ext cx="29927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chemeClr val="accent1">
                    <a:lumMod val="7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25149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422</Words>
  <Application>Microsoft Office PowerPoint</Application>
  <PresentationFormat>On-screen Show (16:9)</PresentationFormat>
  <Paragraphs>140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AI-Based Synthesis of Single-Stage BJT Amplifiers</dc:title>
  <dc:subject>PptxGenJS Presentation</dc:subject>
  <dc:creator>PptxGenJS</dc:creator>
  <cp:lastModifiedBy>namit.m.patil24@gmail.com</cp:lastModifiedBy>
  <cp:revision>2</cp:revision>
  <dcterms:created xsi:type="dcterms:W3CDTF">2026-06-04T05:21:42Z</dcterms:created>
  <dcterms:modified xsi:type="dcterms:W3CDTF">2026-06-04T05:47:29Z</dcterms:modified>
</cp:coreProperties>
</file>