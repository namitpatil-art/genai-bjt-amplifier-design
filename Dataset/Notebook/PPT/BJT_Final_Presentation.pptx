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4581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98848"/>
            <a:ext cx="914400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91440"/>
            <a:ext cx="210312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71323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 of Electronics and Communication Engineering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8634" y="1193292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AI-Based Synthesis of Single-Stage BJT</a:t>
            </a:r>
            <a:r>
              <a:rPr lang="en-US" sz="2600" dirty="0"/>
              <a:t> </a:t>
            </a:r>
            <a:r>
              <a:rPr lang="en-US" sz="26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Amplifiers with Gain Validation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74320" y="2788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063240"/>
          <a:ext cx="5943600" cy="1243584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Sl.no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Roll.no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Namit Patil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01FE24BEC405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Karaveerappa malligawad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01FE24BEC404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Geerish Hosamani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01FE24BEC403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858000" y="33832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under:
</a:t>
            </a: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Ramesh Tabib</a:t>
            </a:r>
            <a:endParaRPr lang="en-US" sz="1200" dirty="0"/>
          </a:p>
        </p:txBody>
      </p:sp>
      <p:pic>
        <p:nvPicPr>
          <p:cNvPr id="10" name="Picture 9" descr="A red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77377399-ABD4-DDDF-5BA0-A2AF59063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592" y="31629"/>
            <a:ext cx="2266352" cy="635883"/>
          </a:xfrm>
          <a:prstGeom prst="rect">
            <a:avLst/>
          </a:prstGeom>
        </p:spPr>
      </p:pic>
      <p:sp>
        <p:nvSpPr>
          <p:cNvPr id="11" name="Text 3">
            <a:extLst>
              <a:ext uri="{FF2B5EF4-FFF2-40B4-BE49-F238E27FC236}">
                <a16:creationId xmlns:a16="http://schemas.microsoft.com/office/drawing/2014/main" id="{3939AD7A-EE4C-3D0A-44D0-72F0B2D54069}"/>
              </a:ext>
            </a:extLst>
          </p:cNvPr>
          <p:cNvSpPr/>
          <p:nvPr/>
        </p:nvSpPr>
        <p:spPr>
          <a:xfrm>
            <a:off x="0" y="486460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64008"/>
            <a:ext cx="100584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9144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274320" y="667512"/>
            <a:ext cx="85953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00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amplifier design requires manual calculations and expert knowledge.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BJT amplifiers operate in three configurations: Common Emitter (CE), Common Collector (CC), and Common Gate (CG).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topology follows different gain equations and design rules.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design methods are time-consuming and prone to human error.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— specifically Conditional GANs — can automate the synthesis of component values.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takes user inputs (gain, Vcc, config) and outputs RC, RE, RG, Vout, waveform and schematic.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0" y="486460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000" dirty="0"/>
          </a:p>
        </p:txBody>
      </p:sp>
      <p:pic>
        <p:nvPicPr>
          <p:cNvPr id="7" name="Picture 6" descr="A red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B4A335EB-5F40-30BC-19C9-F300FD94F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592" y="31629"/>
            <a:ext cx="2266352" cy="6358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64008"/>
            <a:ext cx="100584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9144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274320" y="512064"/>
            <a:ext cx="85953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74320" y="594360"/>
            <a:ext cx="73152" cy="41148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5943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Design Challenges: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932688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expert-level knowledge of BJT biasing.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Involves repetitive manual calculations.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topologies require different equations.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time investment per design iteration.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probability of human error.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46320" y="594360"/>
            <a:ext cx="73152" cy="4114800"/>
          </a:xfrm>
          <a:prstGeom prst="rect">
            <a:avLst/>
          </a:prstGeom>
          <a:solidFill>
            <a:srgbClr val="B41E2D"/>
          </a:solidFill>
          <a:ln w="12700">
            <a:solidFill>
              <a:srgbClr val="B41E2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74920" y="5943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74920" y="932688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intelligent design using Conditional GAN.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component generation from user requirements.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Topology-aware gain validation built-in.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waveform and circuit schematic output.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0" y="486460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000" dirty="0"/>
          </a:p>
        </p:txBody>
      </p:sp>
      <p:pic>
        <p:nvPicPr>
          <p:cNvPr id="12" name="Picture 11" descr="A red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B8A885F5-4C65-C375-6DE0-077480C180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205" y="20151"/>
            <a:ext cx="1883590" cy="5284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64008"/>
            <a:ext cx="100584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9144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274320" y="512064"/>
            <a:ext cx="85953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126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932688"/>
            <a:ext cx="2286000" cy="384048"/>
          </a:xfrm>
          <a:prstGeom prst="rect">
            <a:avLst/>
          </a:prstGeom>
          <a:solidFill>
            <a:srgbClr val="DEEA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93268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1389888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38988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1847088"/>
            <a:ext cx="2286000" cy="384048"/>
          </a:xfrm>
          <a:prstGeom prst="rect">
            <a:avLst/>
          </a:prstGeom>
          <a:solidFill>
            <a:srgbClr val="DEEA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184708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" y="2304288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230428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5760" y="2761488"/>
            <a:ext cx="2286000" cy="384048"/>
          </a:xfrm>
          <a:prstGeom prst="rect">
            <a:avLst/>
          </a:prstGeom>
          <a:solidFill>
            <a:srgbClr val="DEEA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276148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65760" y="3218688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321868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65760" y="3675888"/>
            <a:ext cx="2286000" cy="384048"/>
          </a:xfrm>
          <a:prstGeom prst="rect">
            <a:avLst/>
          </a:prstGeom>
          <a:solidFill>
            <a:srgbClr val="DEEA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367588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291840" y="6126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Configurations: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291840" y="1051560"/>
            <a:ext cx="2743200" cy="56692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91840" y="105156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— Common Emitter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291840" y="1874520"/>
            <a:ext cx="2743200" cy="566928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91840" y="18745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— Common Collector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291840" y="2697480"/>
            <a:ext cx="2743200" cy="566928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91840" y="26974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 — Common Gate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400800" y="6126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Stats: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400800" y="960120"/>
            <a:ext cx="2468880" cy="457200"/>
          </a:xfrm>
          <a:prstGeom prst="rect">
            <a:avLst/>
          </a:prstGeom>
          <a:solidFill>
            <a:srgbClr val="DEEA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0" y="960120"/>
            <a:ext cx="246888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Configs: </a:t>
            </a: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/ CC / CG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400800" y="1527048"/>
            <a:ext cx="2468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0" y="1527048"/>
            <a:ext cx="246888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Gain, RC, RE, RG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400800" y="2093976"/>
            <a:ext cx="2468880" cy="457200"/>
          </a:xfrm>
          <a:prstGeom prst="rect">
            <a:avLst/>
          </a:prstGeom>
          <a:solidFill>
            <a:srgbClr val="DEEA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00800" y="2093976"/>
            <a:ext cx="246888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</a:t>
            </a: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400800" y="2660904"/>
            <a:ext cx="2468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0" y="2660904"/>
            <a:ext cx="246888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</a:t>
            </a: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0" y="486460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000" dirty="0"/>
          </a:p>
        </p:txBody>
      </p:sp>
      <p:pic>
        <p:nvPicPr>
          <p:cNvPr id="37" name="Picture 36" descr="A red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87898F5D-BE31-F72F-0B30-9C007A579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218" y="31630"/>
            <a:ext cx="1911726" cy="5363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64008"/>
            <a:ext cx="100584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9144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274320" y="512064"/>
            <a:ext cx="85953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200400" y="621792"/>
            <a:ext cx="2743200" cy="47548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0" y="62179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(Gain, Vcc, Config)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0" y="1097280"/>
            <a:ext cx="0" cy="18288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0" y="1280160"/>
            <a:ext cx="2743200" cy="475488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0" y="128016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GAN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0" y="1755648"/>
            <a:ext cx="0" cy="18288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0" y="1938528"/>
            <a:ext cx="2743200" cy="475488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0" y="193852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Parameters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(RC, RE, RG, Vout)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0" y="2414016"/>
            <a:ext cx="0" cy="18288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2596896"/>
            <a:ext cx="2743200" cy="475488"/>
          </a:xfrm>
          <a:prstGeom prst="rect">
            <a:avLst/>
          </a:prstGeom>
          <a:solidFill>
            <a:srgbClr val="B41E2D"/>
          </a:solidFill>
          <a:ln w="12700">
            <a:solidFill>
              <a:srgbClr val="B41E2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0" y="259689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Validation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0" y="3072384"/>
            <a:ext cx="0" cy="18288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00400" y="3255264"/>
            <a:ext cx="2743200" cy="475488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0" y="3255264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Output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0" y="3730752"/>
            <a:ext cx="0" cy="18288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00400" y="3913632"/>
            <a:ext cx="2743200" cy="475488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0" y="391363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Diagram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0" y="486460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000" dirty="0"/>
          </a:p>
        </p:txBody>
      </p:sp>
      <p:pic>
        <p:nvPicPr>
          <p:cNvPr id="23" name="Picture 22" descr="A red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CDDE3423-4D8A-1055-CE8D-24C8376DC7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252" y="31630"/>
            <a:ext cx="1911726" cy="5363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64008"/>
            <a:ext cx="100584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9144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Architecture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274320" y="512064"/>
            <a:ext cx="85953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20040" y="658368"/>
            <a:ext cx="2560320" cy="2103120"/>
          </a:xfrm>
          <a:prstGeom prst="rect">
            <a:avLst/>
          </a:prstGeom>
          <a:solidFill>
            <a:srgbClr val="DEEAF1"/>
          </a:solidFill>
          <a:ln w="19050">
            <a:solidFill>
              <a:srgbClr val="2E74B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6583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10058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Vector (z)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(CE/CC/CG)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880360" y="1709928"/>
            <a:ext cx="73152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93008" y="163677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▶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703320" y="658368"/>
            <a:ext cx="2103120" cy="210312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03320" y="658368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(Fully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06440" y="1709928"/>
            <a:ext cx="73152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19088" y="163677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▶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29400" y="658368"/>
            <a:ext cx="2194560" cy="2103120"/>
          </a:xfrm>
          <a:prstGeom prst="rect">
            <a:avLst/>
          </a:prstGeom>
          <a:solidFill>
            <a:srgbClr val="DEEAF1"/>
          </a:solidFill>
          <a:ln w="19050">
            <a:solidFill>
              <a:srgbClr val="C55A1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29400" y="6583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720840" y="100584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(Ω)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(Ω)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 (Ω)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2971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Linear → BatchNorm → LeakyReLU → Linear (output)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0" y="486460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000" dirty="0"/>
          </a:p>
        </p:txBody>
      </p:sp>
      <p:pic>
        <p:nvPicPr>
          <p:cNvPr id="19" name="Picture 18" descr="A red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1B5576EB-5248-B932-30C7-61149D72E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218" y="31630"/>
            <a:ext cx="1911726" cy="5363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64008"/>
            <a:ext cx="100584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9144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 Architecture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274320" y="512064"/>
            <a:ext cx="85953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20040" y="658368"/>
            <a:ext cx="2560320" cy="2103120"/>
          </a:xfrm>
          <a:prstGeom prst="rect">
            <a:avLst/>
          </a:prstGeom>
          <a:solidFill>
            <a:srgbClr val="DEEAF1"/>
          </a:solidFill>
          <a:ln w="19050">
            <a:solidFill>
              <a:srgbClr val="2E74B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6583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10058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Params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(RC, RE, RG, Vout)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(Gain, Vcc, Config)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880360" y="1709928"/>
            <a:ext cx="73152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93008" y="163677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▶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703320" y="658368"/>
            <a:ext cx="2103120" cy="2103120"/>
          </a:xfrm>
          <a:prstGeom prst="rect">
            <a:avLst/>
          </a:prstGeom>
          <a:solidFill>
            <a:srgbClr val="B41E2D"/>
          </a:solidFill>
          <a:ln w="12700">
            <a:solidFill>
              <a:srgbClr val="B41E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03320" y="658368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(Fully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06440" y="1709928"/>
            <a:ext cx="73152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19088" y="163677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▶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29400" y="1188720"/>
            <a:ext cx="2194560" cy="1005840"/>
          </a:xfrm>
          <a:prstGeom prst="rect">
            <a:avLst/>
          </a:prstGeom>
          <a:solidFill>
            <a:srgbClr val="FFF2CC"/>
          </a:solidFill>
          <a:ln w="19050">
            <a:solidFill>
              <a:srgbClr val="C55A1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29400" y="11887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/ Fake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2971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Linear → LeakyReLU → Dropout → Linear → Sigmoid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0" y="486460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000" dirty="0"/>
          </a:p>
        </p:txBody>
      </p:sp>
      <p:pic>
        <p:nvPicPr>
          <p:cNvPr id="18" name="Picture 17" descr="A red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D82FC268-31F5-E396-182D-5C2F13041A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218" y="31630"/>
            <a:ext cx="1911726" cy="5363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64008"/>
            <a:ext cx="100584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9144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Details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274320" y="512064"/>
            <a:ext cx="85953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0" y="658368"/>
          <a:ext cx="5486400" cy="321868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Function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Cross Entropy (BCE)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(Google Colab)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0" y="486460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000" dirty="0"/>
          </a:p>
        </p:txBody>
      </p:sp>
      <p:pic>
        <p:nvPicPr>
          <p:cNvPr id="5" name="Picture 4" descr="A red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1DDE1B49-AFBF-8A1D-8EAF-CD61AE929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252" y="31630"/>
            <a:ext cx="1911726" cy="5363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64008"/>
            <a:ext cx="100584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9144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Topology-Aware Gain Equations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274320" y="512064"/>
            <a:ext cx="85953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20040" y="658368"/>
            <a:ext cx="91440" cy="102412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5836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— Common Emitter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987552"/>
            <a:ext cx="411480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9875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 = RC / (RE + 25/Ic)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3898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Inverting amplifier. High voltage gain.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37760" y="713232"/>
            <a:ext cx="3886200" cy="86868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0" y="713232"/>
            <a:ext cx="3886200" cy="868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= Collector resistor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= Emitter resistor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gain applications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" y="1956816"/>
            <a:ext cx="91440" cy="1024128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195681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— Common Collector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2286000"/>
            <a:ext cx="411480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 = RE / (RE + 25/Ic)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48640" y="268833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gain (≈1). Used for impedance matching.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937760" y="2011680"/>
            <a:ext cx="3886200" cy="86868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7760" y="2011680"/>
            <a:ext cx="3886200" cy="868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= Emitter resistor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≈ 1 (buffer stage)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output impedance drive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20040" y="3255264"/>
            <a:ext cx="91440" cy="1024128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325526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 — Common Gate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3584448"/>
            <a:ext cx="411480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35844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 = RC / 25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48640" y="398678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Non-inverting. Low input impedance.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937760" y="3310128"/>
            <a:ext cx="3886200" cy="86868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37760" y="3310128"/>
            <a:ext cx="3886200" cy="868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= Collector resistor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= Thermal voltage term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/ high-freq applications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0" y="486460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000" dirty="0"/>
          </a:p>
        </p:txBody>
      </p:sp>
      <p:pic>
        <p:nvPicPr>
          <p:cNvPr id="27" name="Picture 26" descr="A red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EBCC90A1-D273-84B3-CA3B-6B0E857676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218" y="31630"/>
            <a:ext cx="1911726" cy="5363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64008"/>
            <a:ext cx="100584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9144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Results — Colab Output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274320" y="512064"/>
            <a:ext cx="85953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Config = CE  |  Gain = 20  |  Vcc = 12V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5760" y="914400"/>
            <a:ext cx="8412480" cy="3657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0" y="486460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000" dirty="0"/>
          </a:p>
        </p:txBody>
      </p:sp>
      <p:pic>
        <p:nvPicPr>
          <p:cNvPr id="8" name="Picture 7" descr="A red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1E7FA16F-F499-9A46-8AE5-B264EE8FFE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3628"/>
            <a:ext cx="1799184" cy="5048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64008"/>
            <a:ext cx="100584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9144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Validation Results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274320" y="512064"/>
            <a:ext cx="85953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640080"/>
          <a:ext cx="7315200" cy="175564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Gain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 Gain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7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7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RC/25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7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25786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Gain validation uses topology-specific equations. Output is recalculated from generated RC, RE, RG values.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65760" y="3063240"/>
            <a:ext cx="3931920" cy="960120"/>
          </a:xfrm>
          <a:prstGeom prst="rect">
            <a:avLst/>
          </a:prstGeom>
          <a:solidFill>
            <a:srgbClr val="DEEAF1"/>
          </a:solidFill>
          <a:ln w="19050">
            <a:solidFill>
              <a:srgbClr val="2E74B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3063240"/>
            <a:ext cx="3931920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Example
</a:t>
            </a: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Vout = 5.99V  |  RC = 5473Ω  |  RE = 624Ω  |  RG = 120426Ω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Gain = 8.43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846320" y="3063240"/>
            <a:ext cx="3931920" cy="960120"/>
          </a:xfrm>
          <a:prstGeom prst="rect">
            <a:avLst/>
          </a:prstGeom>
          <a:solidFill>
            <a:srgbClr val="FFF2CC"/>
          </a:solidFill>
          <a:ln w="19050">
            <a:solidFill>
              <a:srgbClr val="C55A1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846320" y="3063240"/>
            <a:ext cx="3931920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Progress
</a:t>
            </a: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Loss converges to 100  |  G Loss converges from 0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0→30→60→90 logged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0" y="486460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000" dirty="0"/>
          </a:p>
        </p:txBody>
      </p:sp>
      <p:pic>
        <p:nvPicPr>
          <p:cNvPr id="5" name="Picture 4" descr="A red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927DF422-9954-2D0E-AED5-A3E806376D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3628"/>
            <a:ext cx="1799184" cy="5048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64008"/>
            <a:ext cx="100584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9144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Output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274320" y="512064"/>
            <a:ext cx="85953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vs Output Waveform — CE Configuration (Gain = 20, Vcc = 12V)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97280" y="896112"/>
            <a:ext cx="6949440" cy="3291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</a:t>
            </a: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Small input signal    </a:t>
            </a:r>
            <a:r>
              <a:rPr lang="en-US" sz="11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Vout</a:t>
            </a: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Amplified output with phase inversion (CE)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0" y="486460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000" dirty="0"/>
          </a:p>
        </p:txBody>
      </p:sp>
      <p:pic>
        <p:nvPicPr>
          <p:cNvPr id="9" name="Picture 8" descr="A red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521886FD-8DB6-6040-75FF-4AC9F7A616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3628"/>
            <a:ext cx="1799184" cy="50480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64008"/>
            <a:ext cx="100584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9144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Circuit Diagram — CE Configuration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274320" y="512064"/>
            <a:ext cx="85953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60320" y="594360"/>
            <a:ext cx="3474720" cy="39319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92240" y="658368"/>
            <a:ext cx="2377440" cy="457200"/>
          </a:xfrm>
          <a:prstGeom prst="rect">
            <a:avLst/>
          </a:prstGeom>
          <a:solidFill>
            <a:srgbClr val="DEEA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492240" y="658368"/>
            <a:ext cx="237744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 = 12V
</a:t>
            </a: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voltage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492240" y="1225296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92240" y="1225296"/>
            <a:ext cx="237744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= 5473Ω
</a:t>
            </a: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resistor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92240" y="1792224"/>
            <a:ext cx="2377440" cy="457200"/>
          </a:xfrm>
          <a:prstGeom prst="rect">
            <a:avLst/>
          </a:prstGeom>
          <a:solidFill>
            <a:srgbClr val="DEEA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92240" y="1792224"/>
            <a:ext cx="237744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= 624Ω
</a:t>
            </a: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Emitter resistor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92240" y="2359152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92240" y="2359152"/>
            <a:ext cx="237744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 = 120426Ω
</a:t>
            </a: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resistor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92240" y="2926080"/>
            <a:ext cx="2377440" cy="457200"/>
          </a:xfrm>
          <a:prstGeom prst="rect">
            <a:avLst/>
          </a:prstGeom>
          <a:solidFill>
            <a:srgbClr val="DEEA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9224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
</a:t>
            </a: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NPN BJT transistor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92240" y="3493008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92240" y="3493008"/>
            <a:ext cx="237744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
</a:t>
            </a: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signal source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0" y="486460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000" dirty="0"/>
          </a:p>
        </p:txBody>
      </p:sp>
      <p:pic>
        <p:nvPicPr>
          <p:cNvPr id="19" name="Picture 18" descr="A red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5CEAD210-E3FF-9734-B35E-3CC707577C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3628"/>
            <a:ext cx="1799184" cy="50480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64008"/>
            <a:ext cx="100584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9144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274320" y="512064"/>
            <a:ext cx="85953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20040" y="621792"/>
            <a:ext cx="265176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2E74B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0040" y="621792"/>
            <a:ext cx="2651760" cy="34747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6217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0040" y="1005840"/>
            <a:ext cx="2651760" cy="11155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calculations required. Component values generated instantly.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172968" y="621792"/>
            <a:ext cx="265176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21734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72968" y="621792"/>
            <a:ext cx="2651760" cy="347472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72968" y="6217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Design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172968" y="1005840"/>
            <a:ext cx="2651760" cy="11155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design time from hours to seconds.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25896" y="621792"/>
            <a:ext cx="265176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C55A1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25896" y="621792"/>
            <a:ext cx="2651760" cy="347472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25896" y="6217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Aware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025896" y="1005840"/>
            <a:ext cx="2651760" cy="11155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CE, CC and CG with correct gain equations per topology.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801368" y="2450592"/>
            <a:ext cx="265176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B41E2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801368" y="2450592"/>
            <a:ext cx="2651760" cy="347472"/>
          </a:xfrm>
          <a:prstGeom prst="rect">
            <a:avLst/>
          </a:prstGeom>
          <a:solidFill>
            <a:srgbClr val="B41E2D"/>
          </a:solidFill>
          <a:ln w="12700">
            <a:solidFill>
              <a:srgbClr val="B41E2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801368" y="24505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Validation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801368" y="2834640"/>
            <a:ext cx="2651760" cy="11155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gain recalculation verifies output correctness.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654296" y="2450592"/>
            <a:ext cx="265176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7030A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54296" y="2450592"/>
            <a:ext cx="2651760" cy="347472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54296" y="24505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Circuit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654296" y="2834640"/>
            <a:ext cx="2651760" cy="11155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schematic diagram using Schemdraw library.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0" y="486460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000" dirty="0"/>
          </a:p>
        </p:txBody>
      </p:sp>
      <p:pic>
        <p:nvPicPr>
          <p:cNvPr id="26" name="Picture 25" descr="A red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BB1C5298-9EB8-B045-445D-9E17806E4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3628"/>
            <a:ext cx="1799184" cy="5048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64008"/>
            <a:ext cx="100584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9144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274320" y="512064"/>
            <a:ext cx="85953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00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designed a topology-aware Conditional GAN for BJT amplifier synthesis.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generates component values (RC, RE, RG, Vout) from user-defined gain, Vcc, and configuration.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verified waveform output and auto-generated circuit schematic.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Dramatically reduces manual design effort and eliminates human calculation errors.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all three BJT configurations: CE, CC, and CG with correct topology-specific gain validation.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0" y="486460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000" dirty="0"/>
          </a:p>
        </p:txBody>
      </p:sp>
      <p:pic>
        <p:nvPicPr>
          <p:cNvPr id="7" name="Picture 6" descr="A red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22BD7130-1B86-2E30-F240-62494B30D2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3628"/>
            <a:ext cx="1799184" cy="50480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64008"/>
            <a:ext cx="100584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512064"/>
            <a:ext cx="85953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6459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0" y="486460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000" dirty="0"/>
          </a:p>
        </p:txBody>
      </p:sp>
      <p:pic>
        <p:nvPicPr>
          <p:cNvPr id="6" name="Picture 5" descr="A red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AAD9DA48-5D06-F4CA-75D3-3BCC555E0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3628"/>
            <a:ext cx="1799184" cy="5048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953</Words>
  <Application>Microsoft Office PowerPoint</Application>
  <PresentationFormat>On-screen Show (16:9)</PresentationFormat>
  <Paragraphs>221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AI-Based Synthesis of Single-Stage BJT Amplifiers</dc:title>
  <dc:subject>PptxGenJS Presentation</dc:subject>
  <dc:creator>PptxGenJS</dc:creator>
  <cp:lastModifiedBy>namit.m.patil24@gmail.com</cp:lastModifiedBy>
  <cp:revision>2</cp:revision>
  <dcterms:created xsi:type="dcterms:W3CDTF">2026-06-04T05:47:58Z</dcterms:created>
  <dcterms:modified xsi:type="dcterms:W3CDTF">2026-06-04T05:51:57Z</dcterms:modified>
</cp:coreProperties>
</file>